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75B8C8-6976-4DDC-81C4-74ECD70844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edit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title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text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form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4F1C0B-12D7-4579-9C09-A90EB06999B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0094400" cy="914400"/>
          </a:xfrm>
          <a:prstGeom prst="rect">
            <a:avLst/>
          </a:prstGeom>
          <a:solidFill>
            <a:srgbClr val="1d1c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2630160" y="4402800"/>
            <a:ext cx="55368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84600" y="183600"/>
            <a:ext cx="2008800" cy="84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2124360" y="177120"/>
            <a:ext cx="39024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|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571480" y="228600"/>
            <a:ext cx="2903040" cy="486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INTRODUCTION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41800" y="1022400"/>
            <a:ext cx="885636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 Black"/>
                <a:ea typeface="Aptos"/>
              </a:rPr>
              <a:t>CPU is not the workload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56560" y="1512720"/>
            <a:ext cx="863496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ptos"/>
              </a:rPr>
              <a:t>A queue can be full while a worker looks “healthy” to a traditional HPA. It won’t scale.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ptos"/>
              </a:rPr>
              <a:t>Therefore, higher pressure on each pod and queue growth.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563760" y="2356200"/>
            <a:ext cx="3911400" cy="2522520"/>
          </a:xfrm>
          <a:prstGeom prst="roundRect">
            <a:avLst>
              <a:gd name="adj" fmla="val 3380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85160" y="2569320"/>
            <a:ext cx="1845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1" strike="noStrike" u="none">
                <a:solidFill>
                  <a:srgbClr val="ffcf66"/>
                </a:solidFill>
                <a:effectLst/>
                <a:uFillTx/>
                <a:latin typeface="Aptos"/>
                <a:ea typeface="Aptos"/>
              </a:rPr>
              <a:t>QUEUE BACKLOG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822240" y="2995920"/>
            <a:ext cx="309600" cy="298080"/>
          </a:xfrm>
          <a:prstGeom prst="roundRect">
            <a:avLst>
              <a:gd name="adj" fmla="val 28571"/>
            </a:avLst>
          </a:prstGeom>
          <a:solidFill>
            <a:srgbClr val="70434c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822240" y="3002760"/>
            <a:ext cx="3096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1227960" y="2995920"/>
            <a:ext cx="309960" cy="298080"/>
          </a:xfrm>
          <a:prstGeom prst="roundRect">
            <a:avLst>
              <a:gd name="adj" fmla="val 28571"/>
            </a:avLst>
          </a:prstGeom>
          <a:solidFill>
            <a:srgbClr val="70434c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227960" y="3002760"/>
            <a:ext cx="3099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1634040" y="2995920"/>
            <a:ext cx="309960" cy="298080"/>
          </a:xfrm>
          <a:prstGeom prst="roundRect">
            <a:avLst>
              <a:gd name="adj" fmla="val 28571"/>
            </a:avLst>
          </a:prstGeom>
          <a:solidFill>
            <a:srgbClr val="70434c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1634040" y="3002760"/>
            <a:ext cx="3099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2040120" y="2995920"/>
            <a:ext cx="309600" cy="298080"/>
          </a:xfrm>
          <a:prstGeom prst="roundRect">
            <a:avLst>
              <a:gd name="adj" fmla="val 28571"/>
            </a:avLst>
          </a:prstGeom>
          <a:solidFill>
            <a:srgbClr val="70434c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2040120" y="3002760"/>
            <a:ext cx="3096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2445840" y="2995920"/>
            <a:ext cx="309960" cy="298080"/>
          </a:xfrm>
          <a:prstGeom prst="roundRect">
            <a:avLst>
              <a:gd name="adj" fmla="val 28571"/>
            </a:avLst>
          </a:prstGeom>
          <a:solidFill>
            <a:srgbClr val="70434c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2445840" y="3002760"/>
            <a:ext cx="3099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2851920" y="2995920"/>
            <a:ext cx="309600" cy="298080"/>
          </a:xfrm>
          <a:prstGeom prst="roundRect">
            <a:avLst>
              <a:gd name="adj" fmla="val 28571"/>
            </a:avLst>
          </a:prstGeom>
          <a:solidFill>
            <a:srgbClr val="ff7e86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2851920" y="3002760"/>
            <a:ext cx="3096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3257640" y="2995920"/>
            <a:ext cx="309960" cy="298080"/>
          </a:xfrm>
          <a:prstGeom prst="roundRect">
            <a:avLst>
              <a:gd name="adj" fmla="val 28571"/>
            </a:avLst>
          </a:prstGeom>
          <a:solidFill>
            <a:srgbClr val="ff7e86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3257640" y="3002760"/>
            <a:ext cx="3099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807480" y="3706560"/>
            <a:ext cx="236124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4f7fb"/>
                </a:solidFill>
                <a:effectLst/>
                <a:uFillTx/>
                <a:latin typeface="Arial"/>
                <a:ea typeface="Aptos"/>
              </a:rPr>
              <a:t>40 orders waiting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807480" y="4132800"/>
            <a:ext cx="31734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ab8c8"/>
                </a:solidFill>
                <a:effectLst/>
                <a:uFillTx/>
                <a:latin typeface="Aptos"/>
                <a:ea typeface="Aptos"/>
              </a:rPr>
              <a:t>The signal that matters is backlog / lag.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5250600" y="2356200"/>
            <a:ext cx="4206600" cy="2522520"/>
          </a:xfrm>
          <a:prstGeom prst="roundRect">
            <a:avLst>
              <a:gd name="adj" fmla="val 3380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524200" y="2925720"/>
            <a:ext cx="16974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5ba7ff"/>
                </a:solidFill>
                <a:effectLst/>
                <a:uFillTx/>
                <a:latin typeface="Aptos"/>
                <a:ea typeface="Aptos"/>
              </a:rPr>
              <a:t>CPU 18%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536800" y="3331800"/>
            <a:ext cx="19926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aab8c8"/>
                </a:solidFill>
                <a:effectLst/>
                <a:uFillTx/>
                <a:latin typeface="Aptos"/>
                <a:ea typeface="Aptos"/>
              </a:rPr>
              <a:t>Memory 31%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5572800" y="4311360"/>
            <a:ext cx="27306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00"/>
                </a:solidFill>
                <a:effectLst/>
                <a:highlight>
                  <a:srgbClr val="ffff00"/>
                </a:highlight>
                <a:uFillTx/>
                <a:latin typeface="Aptos"/>
                <a:ea typeface="Aptos"/>
              </a:rPr>
              <a:t>Nothing to scale.</a:t>
            </a:r>
            <a:endParaRPr b="0" lang="en-US" sz="2200" strike="noStrike" u="none">
              <a:solidFill>
                <a:srgbClr val="ffff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4475520" y="3564360"/>
            <a:ext cx="723240" cy="360"/>
          </a:xfrm>
          <a:prstGeom prst="line">
            <a:avLst/>
          </a:prstGeom>
          <a:ln w="29160">
            <a:solidFill>
              <a:srgbClr val="ff7e8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433000" y="424080"/>
            <a:ext cx="14889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problem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0094400" cy="914400"/>
          </a:xfrm>
          <a:prstGeom prst="rect">
            <a:avLst/>
          </a:prstGeom>
          <a:solidFill>
            <a:srgbClr val="1d1c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84600" y="183600"/>
            <a:ext cx="2008800" cy="84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 txBox="1"/>
          <p:nvPr/>
        </p:nvSpPr>
        <p:spPr>
          <a:xfrm>
            <a:off x="2124360" y="177120"/>
            <a:ext cx="39024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|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571480" y="228600"/>
            <a:ext cx="2903040" cy="486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INTRODUCTION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567000" y="1020240"/>
            <a:ext cx="87782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 Black"/>
                <a:ea typeface="Aptos"/>
              </a:rPr>
              <a:t>KEDA extends Kubernetes autoscaling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 Black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81760" y="1549800"/>
            <a:ext cx="85586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Arial"/>
                <a:ea typeface="Aptos"/>
              </a:rPr>
              <a:t>It connects event sources to Kubernetes while keeping the HPA model.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662040" y="2107080"/>
            <a:ext cx="2413800" cy="2868480"/>
          </a:xfrm>
          <a:prstGeom prst="roundRect">
            <a:avLst>
              <a:gd name="adj" fmla="val 3636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881640" y="2435040"/>
            <a:ext cx="1974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5ba7ff"/>
                </a:solidFill>
                <a:effectLst/>
                <a:uFillTx/>
                <a:latin typeface="Arial"/>
                <a:ea typeface="Aptos"/>
              </a:rPr>
              <a:t>Kubernetes HPA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81640" y="3049560"/>
            <a:ext cx="197460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aab8c8"/>
                </a:solidFill>
                <a:effectLst/>
                <a:uFillTx/>
                <a:latin typeface="Arial"/>
                <a:ea typeface="Aptos"/>
              </a:rPr>
              <a:t>CPU / memory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aab8c8"/>
                </a:solidFill>
                <a:effectLst/>
                <a:uFillTx/>
                <a:latin typeface="Arial"/>
                <a:ea typeface="Aptos"/>
              </a:rPr>
              <a:t>resource signals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1248480" y="4316400"/>
            <a:ext cx="1060560" cy="261720"/>
          </a:xfrm>
          <a:prstGeom prst="roundRect">
            <a:avLst>
              <a:gd name="adj" fmla="val 43750"/>
            </a:avLst>
          </a:prstGeom>
          <a:solidFill>
            <a:srgbClr val="5ba7ff"/>
          </a:solidFill>
          <a:ln w="12600">
            <a:solidFill>
              <a:srgbClr val="5ba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1248480" y="4324320"/>
            <a:ext cx="10605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8111f"/>
                </a:solidFill>
                <a:effectLst/>
                <a:uFillTx/>
                <a:latin typeface="Arial"/>
                <a:ea typeface="Aptos"/>
              </a:rPr>
              <a:t>NATIVE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3785760" y="2107080"/>
            <a:ext cx="2413800" cy="2868480"/>
          </a:xfrm>
          <a:prstGeom prst="roundRect">
            <a:avLst>
              <a:gd name="adj" fmla="val 3636"/>
            </a:avLst>
          </a:prstGeom>
          <a:solidFill>
            <a:srgbClr val="132b42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4005360" y="2435040"/>
            <a:ext cx="19749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44d3b2"/>
                </a:solidFill>
                <a:effectLst/>
                <a:uFillTx/>
                <a:latin typeface="Arial"/>
                <a:ea typeface="Aptos"/>
              </a:rPr>
              <a:t>KEDA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005360" y="2967840"/>
            <a:ext cx="1974960" cy="9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4f7fb"/>
                </a:solidFill>
                <a:effectLst/>
                <a:uFillTx/>
                <a:latin typeface="Arial"/>
                <a:ea typeface="Aptos"/>
              </a:rPr>
              <a:t>Queue depth • lag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4f7fb"/>
                </a:solidFill>
                <a:effectLst/>
                <a:uFillTx/>
                <a:latin typeface="Arial"/>
                <a:ea typeface="Aptos"/>
              </a:rPr>
              <a:t>cloud metrics • cron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4f7fb"/>
                </a:solidFill>
                <a:effectLst/>
                <a:uFillTx/>
                <a:latin typeface="Arial"/>
                <a:ea typeface="Aptos"/>
              </a:rPr>
              <a:t>custom / external scalers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4466160" y="4320000"/>
            <a:ext cx="1060560" cy="262080"/>
          </a:xfrm>
          <a:prstGeom prst="roundRect">
            <a:avLst>
              <a:gd name="adj" fmla="val 43750"/>
            </a:avLst>
          </a:prstGeom>
          <a:solidFill>
            <a:srgbClr val="44d3b2"/>
          </a:solidFill>
          <a:ln w="12600">
            <a:solidFill>
              <a:srgbClr val="44d3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466160" y="4328280"/>
            <a:ext cx="1060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8111f"/>
                </a:solidFill>
                <a:effectLst/>
                <a:uFillTx/>
                <a:latin typeface="Arial"/>
                <a:ea typeface="Aptos"/>
              </a:rPr>
              <a:t>EVENTS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6916680" y="2107080"/>
            <a:ext cx="2413800" cy="2868480"/>
          </a:xfrm>
          <a:prstGeom prst="roundRect">
            <a:avLst>
              <a:gd name="adj" fmla="val 3636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7151040" y="2435040"/>
            <a:ext cx="19749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4f7fb"/>
                </a:solidFill>
                <a:effectLst/>
                <a:uFillTx/>
                <a:latin typeface="Arial"/>
                <a:ea typeface="Aptos"/>
              </a:rPr>
              <a:t>Workload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7151040" y="3049560"/>
            <a:ext cx="197496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aab8c8"/>
                </a:solidFill>
                <a:effectLst/>
                <a:uFillTx/>
                <a:latin typeface="Arial"/>
                <a:ea typeface="Aptos"/>
              </a:rPr>
              <a:t>Deployment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aab8c8"/>
                </a:solidFill>
                <a:effectLst/>
                <a:uFillTx/>
                <a:latin typeface="Arial"/>
                <a:ea typeface="Aptos"/>
              </a:rPr>
              <a:t>StatefulSet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aab8c8"/>
                </a:solidFill>
                <a:effectLst/>
                <a:uFillTx/>
                <a:latin typeface="Arial"/>
                <a:ea typeface="Aptos"/>
              </a:rPr>
              <a:t>Custom Resource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7428960" y="4320000"/>
            <a:ext cx="1389600" cy="262080"/>
          </a:xfrm>
          <a:prstGeom prst="roundRect">
            <a:avLst>
              <a:gd name="adj" fmla="val 43750"/>
            </a:avLst>
          </a:prstGeom>
          <a:solidFill>
            <a:srgbClr val="ffcf66"/>
          </a:solidFill>
          <a:ln w="12600">
            <a:solidFill>
              <a:srgbClr val="ffcf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6"/>
          <p:cNvSpPr/>
          <p:nvPr/>
        </p:nvSpPr>
        <p:spPr>
          <a:xfrm>
            <a:off x="7428960" y="4328280"/>
            <a:ext cx="13896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8111f"/>
                </a:solidFill>
                <a:effectLst/>
                <a:uFillTx/>
                <a:latin typeface="Arial"/>
                <a:ea typeface="Aptos"/>
              </a:rPr>
              <a:t>SCALE 0 → 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8"/>
          <p:cNvSpPr/>
          <p:nvPr/>
        </p:nvSpPr>
        <p:spPr>
          <a:xfrm>
            <a:off x="3149280" y="3541320"/>
            <a:ext cx="585360" cy="360"/>
          </a:xfrm>
          <a:prstGeom prst="line">
            <a:avLst/>
          </a:prstGeom>
          <a:ln w="29160">
            <a:solidFill>
              <a:srgbClr val="44d3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9"/>
          <p:cNvSpPr/>
          <p:nvPr/>
        </p:nvSpPr>
        <p:spPr>
          <a:xfrm>
            <a:off x="6272640" y="3541320"/>
            <a:ext cx="592560" cy="360"/>
          </a:xfrm>
          <a:prstGeom prst="line">
            <a:avLst/>
          </a:prstGeom>
          <a:ln w="29160">
            <a:solidFill>
              <a:srgbClr val="44d3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lide Number Placeholder 0"/>
          <p:cNvSpPr txBox="1"/>
          <p:nvPr/>
        </p:nvSpPr>
        <p:spPr>
          <a:xfrm>
            <a:off x="9418680" y="6172200"/>
            <a:ext cx="639720" cy="26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4AE5426C-6647-4396-B349-C6FAF8DC2290}" type="slidenum">
              <a:rPr b="0" lang="en-US" sz="750" strike="noStrike" u="none">
                <a:solidFill>
                  <a:srgbClr val="8295ad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649000" y="424080"/>
            <a:ext cx="1260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solution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0094400" cy="914400"/>
          </a:xfrm>
          <a:prstGeom prst="rect">
            <a:avLst/>
          </a:prstGeom>
          <a:solidFill>
            <a:srgbClr val="1d1c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84600" y="183600"/>
            <a:ext cx="2008800" cy="84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 txBox="1"/>
          <p:nvPr/>
        </p:nvSpPr>
        <p:spPr>
          <a:xfrm>
            <a:off x="2124360" y="177120"/>
            <a:ext cx="39024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|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571480" y="228600"/>
            <a:ext cx="2035080" cy="486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WHAT IT 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lide Number Placeholder 2"/>
          <p:cNvSpPr txBox="1"/>
          <p:nvPr/>
        </p:nvSpPr>
        <p:spPr>
          <a:xfrm>
            <a:off x="9418680" y="6172200"/>
            <a:ext cx="639720" cy="26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86CB6E07-3375-4232-8E4A-E9CF5152CFE6}" type="slidenum">
              <a:rPr b="0" lang="en-US" sz="750" strike="noStrike" u="none">
                <a:solidFill>
                  <a:srgbClr val="8295ad"/>
                </a:solidFill>
                <a:effectLst/>
                <a:uFillTx/>
                <a:latin typeface="Arial"/>
                <a:ea typeface="Aptos"/>
              </a:rPr>
              <a:t>&lt;number&gt;</a:t>
            </a:fld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433000" y="424080"/>
            <a:ext cx="1489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2193840" y="1080360"/>
            <a:ext cx="5256000" cy="458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0094400" cy="914400"/>
          </a:xfrm>
          <a:prstGeom prst="rect">
            <a:avLst/>
          </a:prstGeom>
          <a:solidFill>
            <a:srgbClr val="1d1c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84600" y="183600"/>
            <a:ext cx="2008800" cy="84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2124360" y="177120"/>
            <a:ext cx="39024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|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571480" y="228600"/>
            <a:ext cx="2035080" cy="486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WHAT IT 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361000" y="424080"/>
            <a:ext cx="1565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it works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724320" y="2690280"/>
            <a:ext cx="1605600" cy="955440"/>
          </a:xfrm>
          <a:prstGeom prst="roundRect">
            <a:avLst>
              <a:gd name="adj" fmla="val 9600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892440" y="2865960"/>
            <a:ext cx="12614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External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event source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892440" y="3324600"/>
            <a:ext cx="1261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queue • DB • API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2814120" y="1569960"/>
            <a:ext cx="1873440" cy="955440"/>
          </a:xfrm>
          <a:prstGeom prst="roundRect">
            <a:avLst>
              <a:gd name="adj" fmla="val 9600"/>
            </a:avLst>
          </a:prstGeom>
          <a:solidFill>
            <a:srgbClr val="132b42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3005280" y="1761120"/>
            <a:ext cx="1490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keda-operator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0"/>
          <p:cNvSpPr/>
          <p:nvPr/>
        </p:nvSpPr>
        <p:spPr>
          <a:xfrm>
            <a:off x="3005280" y="2143440"/>
            <a:ext cx="14907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watches ScaledObjects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0 ↔ 1 activation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2814120" y="3157920"/>
            <a:ext cx="1873440" cy="955440"/>
          </a:xfrm>
          <a:prstGeom prst="roundRect">
            <a:avLst>
              <a:gd name="adj" fmla="val 9600"/>
            </a:avLst>
          </a:prstGeom>
          <a:solidFill>
            <a:srgbClr val="132b42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3005280" y="3303360"/>
            <a:ext cx="14907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keda-metrics-</a:t>
            </a:r>
            <a:endParaRPr b="0" lang="en-US" sz="17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apiserver</a:t>
            </a:r>
            <a:endParaRPr b="0" lang="en-US" sz="17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3005280" y="3746880"/>
            <a:ext cx="149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serves external metrics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5297040" y="2415960"/>
            <a:ext cx="1720440" cy="955440"/>
          </a:xfrm>
          <a:prstGeom prst="roundRect">
            <a:avLst>
              <a:gd name="adj" fmla="val 9600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4"/>
          <p:cNvSpPr/>
          <p:nvPr/>
        </p:nvSpPr>
        <p:spPr>
          <a:xfrm>
            <a:off x="5488200" y="2591640"/>
            <a:ext cx="13381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Kubernetes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API server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5"/>
          <p:cNvSpPr/>
          <p:nvPr/>
        </p:nvSpPr>
        <p:spPr>
          <a:xfrm>
            <a:off x="5488200" y="3050280"/>
            <a:ext cx="13381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CRDs • HPA • etcd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3"/>
          <p:cNvSpPr/>
          <p:nvPr/>
        </p:nvSpPr>
        <p:spPr>
          <a:xfrm>
            <a:off x="7591320" y="2055960"/>
            <a:ext cx="1720080" cy="955440"/>
          </a:xfrm>
          <a:prstGeom prst="roundRect">
            <a:avLst>
              <a:gd name="adj" fmla="val 9600"/>
            </a:avLst>
          </a:prstGeom>
          <a:solidFill>
            <a:srgbClr val="102238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6"/>
          <p:cNvSpPr/>
          <p:nvPr/>
        </p:nvSpPr>
        <p:spPr>
          <a:xfrm>
            <a:off x="7782480" y="2262240"/>
            <a:ext cx="133776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HPA</a:t>
            </a:r>
            <a:endParaRPr b="0" lang="en-US" sz="2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7"/>
          <p:cNvSpPr/>
          <p:nvPr/>
        </p:nvSpPr>
        <p:spPr>
          <a:xfrm>
            <a:off x="7782480" y="2690280"/>
            <a:ext cx="1337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1 ↔ N replicas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4"/>
          <p:cNvSpPr/>
          <p:nvPr/>
        </p:nvSpPr>
        <p:spPr>
          <a:xfrm>
            <a:off x="7591320" y="3585240"/>
            <a:ext cx="1720080" cy="955440"/>
          </a:xfrm>
          <a:prstGeom prst="roundRect">
            <a:avLst>
              <a:gd name="adj" fmla="val 9600"/>
            </a:avLst>
          </a:prstGeom>
          <a:solidFill>
            <a:srgbClr val="0d1a2d"/>
          </a:solidFill>
          <a:ln w="12600">
            <a:solidFill>
              <a:srgbClr val="2b4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7782480" y="3760920"/>
            <a:ext cx="13377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Deployment /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ptos"/>
              </a:rPr>
              <a:t>ReplicaSet / Pods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9"/>
          <p:cNvSpPr/>
          <p:nvPr/>
        </p:nvSpPr>
        <p:spPr>
          <a:xfrm>
            <a:off x="7782480" y="4219920"/>
            <a:ext cx="1337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actual workload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9"/>
          <p:cNvSpPr/>
          <p:nvPr/>
        </p:nvSpPr>
        <p:spPr>
          <a:xfrm>
            <a:off x="7040520" y="2537640"/>
            <a:ext cx="497160" cy="360"/>
          </a:xfrm>
          <a:prstGeom prst="line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0"/>
          <p:cNvSpPr/>
          <p:nvPr/>
        </p:nvSpPr>
        <p:spPr>
          <a:xfrm>
            <a:off x="8455320" y="3065040"/>
            <a:ext cx="360" cy="458640"/>
          </a:xfrm>
          <a:prstGeom prst="line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"/>
          <p:cNvCxnSpPr>
            <a:stCxn id="75" idx="0"/>
            <a:endCxn id="78" idx="1"/>
          </p:cNvCxnSpPr>
          <p:nvPr/>
        </p:nvCxnSpPr>
        <p:spPr>
          <a:xfrm flipH="1" flipV="1" rot="5400000">
            <a:off x="1848960" y="1725480"/>
            <a:ext cx="642960" cy="1287360"/>
          </a:xfrm>
          <a:prstGeom prst="bentConnector3">
            <a:avLst>
              <a:gd name="adj1" fmla="val 98487"/>
            </a:avLst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96" name=""/>
          <p:cNvCxnSpPr>
            <a:stCxn id="81" idx="3"/>
            <a:endCxn id="84" idx="1"/>
          </p:cNvCxnSpPr>
          <p:nvPr/>
        </p:nvCxnSpPr>
        <p:spPr>
          <a:xfrm flipV="1">
            <a:off x="4687560" y="2893680"/>
            <a:ext cx="609840" cy="742320"/>
          </a:xfrm>
          <a:prstGeom prst="bentConnector3">
            <a:avLst>
              <a:gd name="adj1" fmla="val 30655"/>
            </a:avLst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97" name=""/>
          <p:cNvCxnSpPr>
            <a:stCxn id="78" idx="3"/>
            <a:endCxn id="84" idx="1"/>
          </p:cNvCxnSpPr>
          <p:nvPr/>
        </p:nvCxnSpPr>
        <p:spPr>
          <a:xfrm>
            <a:off x="4687560" y="2047680"/>
            <a:ext cx="609840" cy="846360"/>
          </a:xfrm>
          <a:prstGeom prst="bentConnector3">
            <a:avLst>
              <a:gd name="adj1" fmla="val 30655"/>
            </a:avLst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0094400" cy="914400"/>
          </a:xfrm>
          <a:prstGeom prst="rect">
            <a:avLst/>
          </a:prstGeom>
          <a:solidFill>
            <a:srgbClr val="1d1c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84600" y="183600"/>
            <a:ext cx="2008800" cy="84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 txBox="1"/>
          <p:nvPr/>
        </p:nvSpPr>
        <p:spPr>
          <a:xfrm>
            <a:off x="2124360" y="177120"/>
            <a:ext cx="39024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|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571480" y="228600"/>
            <a:ext cx="2581200" cy="486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COMPARISON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397000" y="424080"/>
            <a:ext cx="15274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similar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"/>
          <p:cNvGraphicFramePr/>
          <p:nvPr/>
        </p:nvGraphicFramePr>
        <p:xfrm>
          <a:off x="228600" y="1543680"/>
          <a:ext cx="9600480" cy="3400560"/>
        </p:xfrm>
        <a:graphic>
          <a:graphicData uri="http://schemas.openxmlformats.org/drawingml/2006/table">
            <a:tbl>
              <a:tblPr/>
              <a:tblGrid>
                <a:gridCol w="1581120"/>
                <a:gridCol w="2800440"/>
                <a:gridCol w="2295360"/>
                <a:gridCol w="2923920"/>
              </a:tblGrid>
              <a:tr h="7660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1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Keda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 Black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Knative Serving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 Black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HPA + Prometheus Adapter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 Black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7660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Resources utilization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Lightweight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More components required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Lightweight adapter; needs Prometheus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11019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Integration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Kafka, SQS, RabbitMQ, Prometheus, 75+ buil-in scalers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HTTP requests, RPS, concurrency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Any suitable Prometheus metric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7668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Configuration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Simple trigger-based YAML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More platform configuration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HPA + metric mapping rules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0"/>
            <a:ext cx="10094400" cy="914400"/>
          </a:xfrm>
          <a:prstGeom prst="rect">
            <a:avLst/>
          </a:prstGeom>
          <a:solidFill>
            <a:srgbClr val="1d1c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84600" y="183600"/>
            <a:ext cx="2008800" cy="84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 txBox="1"/>
          <p:nvPr/>
        </p:nvSpPr>
        <p:spPr>
          <a:xfrm>
            <a:off x="2124360" y="177120"/>
            <a:ext cx="39024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|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571480" y="228600"/>
            <a:ext cx="1245960" cy="486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183560" y="2514600"/>
            <a:ext cx="1760040" cy="657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VIDEO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2026-10-12T11:01:47Z</dcterms:created>
  <dc:creator/>
  <dc:description/>
  <dc:language>en-US</dc:language>
  <cp:lastModifiedBy/>
  <dcterms:modified xsi:type="dcterms:W3CDTF">2026-10-12T12:26:08Z</dcterms:modified>
  <cp:revision>6</cp:revision>
  <dc:subject/>
  <dc:title/>
</cp:coreProperties>
</file>